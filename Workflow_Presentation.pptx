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rpla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0C2340"/>
          </a:solidFill>
          <a:ln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Commercial Fleet Operations &amp;</a:t>
            </a:r>
            <a:br/>
            <a:r>
              <a:t>Turnaround Optimization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D3"/>
                </a:solidFill>
                <a:latin typeface="Segoe UI"/>
              </a:defRPr>
            </a:pPr>
            <a:r>
              <a:t>Predicting Cascading Delays to Maximize Aircraft Utilization and Reduce Operational Costs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D3"/>
                </a:solidFill>
                <a:latin typeface="Segoe UI"/>
              </a:defRPr>
            </a:pPr>
            <a:r>
              <a:t>The Operational Bottleneck: Cascading Delays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Airlines operate on incredibly tight turnaround schedules.</a:t>
            </a:r>
          </a:p>
          <a:p>
            <a:pPr lvl="1">
              <a:defRPr sz="2200" b="1">
                <a:solidFill>
                  <a:srgbClr val="FDA05B"/>
                </a:solidFill>
                <a:latin typeface="Segoe UI"/>
              </a:defRPr>
            </a:pPr>
            <a:r>
              <a:t>The Turnaround Buffer</a:t>
            </a:r>
          </a:p>
          <a:p>
            <a:pPr lvl="2">
              <a:defRPr sz="1800" b="0">
                <a:solidFill>
                  <a:srgbClr val="C8D0D9"/>
                </a:solidFill>
                <a:latin typeface="Segoe UI"/>
              </a:defRPr>
            </a:pPr>
            <a:r>
              <a:t>The scheduled ground time allocated for cleaning, fueling, and boarding.</a:t>
            </a:r>
          </a:p>
          <a:p>
            <a:pPr lvl="1">
              <a:defRPr sz="2200" b="1">
                <a:solidFill>
                  <a:srgbClr val="FDA05B"/>
                </a:solidFill>
                <a:latin typeface="Segoe UI"/>
              </a:defRPr>
            </a:pPr>
            <a:r>
              <a:t>The Domino Effect</a:t>
            </a:r>
          </a:p>
          <a:p>
            <a:pPr lvl="2">
              <a:defRPr sz="1800" b="0">
                <a:solidFill>
                  <a:srgbClr val="C8D0D9"/>
                </a:solidFill>
                <a:latin typeface="Segoe UI"/>
              </a:defRPr>
            </a:pPr>
            <a:r>
              <a:t>When ground operations exceed the buffer, the delay directly propagates to the next flight.</a:t>
            </a:r>
          </a:p>
          <a:p>
            <a:pPr lvl="1">
              <a:defRPr sz="2200" b="1">
                <a:solidFill>
                  <a:srgbClr val="FDA05B"/>
                </a:solidFill>
                <a:latin typeface="Segoe UI"/>
              </a:defRPr>
            </a:pPr>
            <a:r>
              <a:t>Financial Hemorrhage</a:t>
            </a:r>
          </a:p>
          <a:p>
            <a:pPr lvl="2">
              <a:defRPr sz="1800" b="0">
                <a:solidFill>
                  <a:srgbClr val="C8D0D9"/>
                </a:solidFill>
                <a:latin typeface="Segoe UI"/>
              </a:defRPr>
            </a:pPr>
            <a:r>
              <a:t>Every minute of delay costs approximately $75 in overtime and fuel inefficiencies.</a:t>
            </a:r>
          </a:p>
        </p:txBody>
      </p:sp>
      <p:pic>
        <p:nvPicPr>
          <p:cNvPr id="4" name="Picture 3" descr="airpla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551814"/>
          </a:xfrm>
          <a:prstGeom prst="rect">
            <a:avLst/>
          </a:prstGeom>
          <a:ln>
            <a:solidFill>
              <a:srgbClr val="00D2D3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D3"/>
                </a:solidFill>
                <a:latin typeface="Segoe UI"/>
              </a:defRPr>
            </a:pPr>
            <a:r>
              <a:t>Phase 1: Robust Data Ingestion &amp;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2926080" cy="2743200"/>
          </a:xfrm>
          <a:prstGeom prst="roundRect">
            <a:avLst/>
          </a:prstGeom>
          <a:solidFill>
            <a:srgbClr val="14325A"/>
          </a:solidFill>
          <a:ln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DA05B"/>
                </a:solidFill>
                <a:latin typeface="Segoe UI"/>
              </a:defRPr>
            </a:pPr>
            <a:r>
              <a:t>1. Raw Data 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Scans root directories for CSV/ZIP datasets.</a:t>
            </a:r>
            <a:br/>
            <a:br/>
            <a:r>
              <a:t>Transforms complex float time-series data into standard DateTime objects.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286000"/>
            <a:ext cx="2926080" cy="2743200"/>
          </a:xfrm>
          <a:prstGeom prst="roundRect">
            <a:avLst/>
          </a:prstGeom>
          <a:solidFill>
            <a:srgbClr val="14325A"/>
          </a:solidFill>
          <a:ln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DA05B"/>
                </a:solidFill>
                <a:latin typeface="Segoe UI"/>
              </a:defRPr>
            </a:pPr>
            <a:r>
              <a:t>2. 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004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Derives Actual vs Scheduled durations.</a:t>
            </a:r>
            <a:br/>
            <a:br/>
            <a:r>
              <a:t>Heuristically adjusts for complex edge-cases like overnight flight arrivals.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286000"/>
            <a:ext cx="2926080" cy="2743200"/>
          </a:xfrm>
          <a:prstGeom prst="roundRect">
            <a:avLst/>
          </a:prstGeom>
          <a:solidFill>
            <a:srgbClr val="14325A"/>
          </a:solidFill>
          <a:ln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DA05B"/>
                </a:solidFill>
                <a:latin typeface="Segoe UI"/>
              </a:defRPr>
            </a:pPr>
            <a:r>
              <a:t>3. SQLite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2004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Loads data into local 'operations.db'.</a:t>
            </a:r>
            <a:br/>
            <a:br/>
            <a:r>
              <a:t>Builds B-Tree indexes on Tail Numbers to guarantee rapid downstream SQL querying.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D3"/>
                </a:solidFill>
                <a:latin typeface="Segoe UI"/>
              </a:defRPr>
            </a:pPr>
            <a:r>
              <a:t>Phase 2: The Analytical SQL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DA05B"/>
                </a:solidFill>
                <a:latin typeface="Segoe UI"/>
              </a:defRPr>
            </a:pPr>
            <a:r>
              <a:t>Unlocking Network Intelligence using Window Functions</a:t>
            </a:r>
          </a:p>
          <a:p>
            <a:pPr lvl="1">
              <a:defRPr sz="2400" b="1">
                <a:solidFill>
                  <a:srgbClr val="00D2D3"/>
                </a:solidFill>
                <a:latin typeface="Segoe UI"/>
              </a:defRPr>
            </a:pPr>
            <a:r>
              <a:t>Common Table Expressions (CTEs)</a:t>
            </a:r>
          </a:p>
          <a:p>
            <a:pPr lvl="2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Instead of Python loops, we utilize highly optimized SQL CTEs to trace aircraft history.</a:t>
            </a:r>
          </a:p>
          <a:p>
            <a:pPr lvl="1">
              <a:defRPr sz="2400" b="1">
                <a:solidFill>
                  <a:srgbClr val="00D2D3"/>
                </a:solidFill>
                <a:latin typeface="Segoe UI"/>
              </a:defRPr>
            </a:pPr>
            <a:r>
              <a:t>Physical Aircraft Sequencing [ LAG() ]</a:t>
            </a:r>
          </a:p>
          <a:p>
            <a:pPr lvl="2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Partitioning data by 'Tail_Number', we dynamically lookup the exact arrival time of the aircraft's prior flight.</a:t>
            </a:r>
          </a:p>
          <a:p>
            <a:pPr lvl="1">
              <a:defRPr sz="2400" b="1">
                <a:solidFill>
                  <a:srgbClr val="00D2D3"/>
                </a:solidFill>
                <a:latin typeface="Segoe UI"/>
              </a:defRPr>
            </a:pPr>
            <a:r>
              <a:t>Isolating Network Choke Points</a:t>
            </a:r>
          </a:p>
          <a:p>
            <a:pPr lvl="2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We aggregate these metrics by Airport and Carrier, flagging cascading delay choke points.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1228725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D3"/>
                </a:solidFill>
                <a:latin typeface="Segoe UI"/>
              </a:defRPr>
            </a:pPr>
            <a:r>
              <a:t>Phase 3: Machine Learning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DA05B"/>
                </a:solidFill>
                <a:latin typeface="Segoe UI"/>
              </a:defRPr>
            </a:pPr>
            <a:r>
              <a:t>The Predictive Engine</a:t>
            </a:r>
          </a:p>
          <a:p>
            <a:pPr lvl="1">
              <a:defRPr sz="1800" b="0">
                <a:solidFill>
                  <a:srgbClr val="C8D0D9"/>
                </a:solidFill>
                <a:latin typeface="Segoe UI"/>
              </a:defRPr>
            </a:pPr>
            <a:r>
              <a:t>Predict if a flight will breach its turnaround buffer.</a:t>
            </a:r>
          </a:p>
          <a:p>
            <a:pPr>
              <a:defRPr sz="2800" b="1">
                <a:solidFill>
                  <a:srgbClr val="FDA05B"/>
                </a:solidFill>
                <a:latin typeface="Segoe UI"/>
              </a:defRPr>
            </a:pPr>
            <a:r>
              <a:t>Feature Engineering</a:t>
            </a:r>
          </a:p>
          <a:p>
            <a:pPr lvl="1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Turn Buffer Volume</a:t>
            </a:r>
          </a:p>
          <a:p>
            <a:pPr lvl="1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Inbound Delay Stress</a:t>
            </a:r>
          </a:p>
          <a:p>
            <a:pPr lvl="1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Route Congestion Profiles</a:t>
            </a:r>
          </a:p>
          <a:p>
            <a:pPr>
              <a:defRPr sz="2800" b="1">
                <a:solidFill>
                  <a:srgbClr val="FDA05B"/>
                </a:solidFill>
                <a:latin typeface="Segoe UI"/>
              </a:defRPr>
            </a:pPr>
            <a:r>
              <a:t>Random Forest Classifier</a:t>
            </a:r>
          </a:p>
          <a:p>
            <a:pPr lvl="1">
              <a:defRPr sz="1800" b="0">
                <a:solidFill>
                  <a:srgbClr val="C8D0D9"/>
                </a:solidFill>
                <a:latin typeface="Segoe UI"/>
              </a:defRPr>
            </a:pPr>
            <a:r>
              <a:t>Explicitly combats class-imbalance utilizing computationally balanced class weights.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D3"/>
                </a:solidFill>
                <a:latin typeface="Segoe UI"/>
              </a:defRPr>
            </a:pPr>
            <a:r>
              <a:t>Phase 4: Operational Financial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8D0D9"/>
                </a:solidFill>
                <a:latin typeface="Segoe UI"/>
              </a:defRPr>
            </a:pPr>
            <a:r>
              <a:t>Translating data science metrics into executive financial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4114800" cy="2743200"/>
          </a:xfrm>
          <a:prstGeom prst="roundRect">
            <a:avLst/>
          </a:prstGeom>
          <a:solidFill>
            <a:srgbClr val="3C1414"/>
          </a:solidFill>
          <a:ln>
            <a:solidFill>
              <a:srgbClr val="FF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Predicted Delay Cost Exposure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6464"/>
                </a:solidFill>
                <a:latin typeface="Segoe UI"/>
              </a:defRPr>
            </a:pPr>
            <a:r>
              <a:t>$51.2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D0D9"/>
                </a:solidFill>
                <a:latin typeface="Segoe UI"/>
              </a:defRPr>
            </a:pPr>
            <a:r>
              <a:t>FAA Benchmark: $75 /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560320"/>
            <a:ext cx="4114800" cy="2743200"/>
          </a:xfrm>
          <a:prstGeom prst="roundRect">
            <a:avLst/>
          </a:prstGeom>
          <a:solidFill>
            <a:srgbClr val="143C14"/>
          </a:solidFill>
          <a:ln>
            <a:solidFill>
              <a:srgbClr val="32F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Potential Operational Savings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4747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64FF64"/>
                </a:solidFill>
                <a:latin typeface="Segoe UI"/>
              </a:defRPr>
            </a:pPr>
            <a:r>
              <a:t>$10.2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D0D9"/>
                </a:solidFill>
                <a:latin typeface="Segoe UI"/>
              </a:defRPr>
            </a:pPr>
            <a:r>
              <a:t>Assuming 20% Intervention Mitigation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