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</a:defRPr>
            </a:pPr>
            <a:r>
              <a:t>ENTERPRISE FLEET ANALYTICS // OPERATIONS CONTROL CENTER DECISION SUPPORT</a:t>
            </a:r>
          </a:p>
          <a:p>
            <a:pPr>
              <a:spcBef>
                <a:spcPts val="800"/>
              </a:spcBef>
              <a:defRPr sz="3600" b="1">
                <a:solidFill>
                  <a:srgbClr val="F8FAFC"/>
                </a:solidFill>
              </a:defRPr>
            </a:pPr>
            <a:r>
              <a:t>Commercial Fleet Operations &amp;</a:t>
            </a:r>
            <a:br/>
            <a:r>
              <a:t>Turnaround Optimization Model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</a:defRPr>
            </a:pPr>
            <a:r>
              <a:t>Predicting Turnaround Buffer Breaches to Eliminate Cascading Delays and Maximize Aircraft Utilization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66160"/>
            <a:ext cx="2514600" cy="228600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4884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886200"/>
            <a:ext cx="2148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0B981"/>
                </a:solidFill>
              </a:defRPr>
            </a:pPr>
            <a:r>
              <a:t>$10.24M</a:t>
            </a:r>
          </a:p>
          <a:p>
            <a:pPr>
              <a:spcBef>
                <a:spcPts val="600"/>
              </a:spcBef>
              <a:defRPr sz="1300" b="1">
                <a:solidFill>
                  <a:srgbClr val="F8FAFC"/>
                </a:solidFill>
              </a:defRPr>
            </a:pPr>
            <a:r>
              <a:t>Annual Cost Savings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20% Tactical Mitigation ROI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3566160"/>
            <a:ext cx="2514600" cy="228600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48456" y="3566160"/>
            <a:ext cx="21488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3886200"/>
            <a:ext cx="2148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38BDF8"/>
                </a:solidFill>
              </a:defRPr>
            </a:pPr>
            <a:r>
              <a:t>441,348</a:t>
            </a:r>
          </a:p>
          <a:p>
            <a:pPr>
              <a:spcBef>
                <a:spcPts val="600"/>
              </a:spcBef>
              <a:defRPr sz="1300" b="1">
                <a:solidFill>
                  <a:srgbClr val="F8FAFC"/>
                </a:solidFill>
              </a:defRPr>
            </a:pPr>
            <a:r>
              <a:t>Turnarounds Modeled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DOT Bureau of Transp. Stats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3566160"/>
            <a:ext cx="2514600" cy="228600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82512" y="3566160"/>
            <a:ext cx="214884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3886200"/>
            <a:ext cx="2148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81.92%</a:t>
            </a:r>
          </a:p>
          <a:p>
            <a:pPr>
              <a:spcBef>
                <a:spcPts val="600"/>
              </a:spcBef>
              <a:defRPr sz="1300" b="1">
                <a:solidFill>
                  <a:srgbClr val="F8FAFC"/>
                </a:solidFill>
              </a:defRPr>
            </a:pPr>
            <a:r>
              <a:t>PR-AUC Accuracy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Random Forest Predictive Power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33688" y="3566160"/>
            <a:ext cx="2514600" cy="228600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16568" y="3566160"/>
            <a:ext cx="214884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16568" y="3886200"/>
            <a:ext cx="2148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9E0B"/>
                </a:solidFill>
              </a:defRPr>
            </a:pPr>
            <a:r>
              <a:t>$75.00/min</a:t>
            </a:r>
          </a:p>
          <a:p>
            <a:pPr>
              <a:spcBef>
                <a:spcPts val="600"/>
              </a:spcBef>
              <a:defRPr sz="1300" b="1">
                <a:solidFill>
                  <a:srgbClr val="F8FAFC"/>
                </a:solidFill>
              </a:defRPr>
            </a:pPr>
            <a:r>
              <a:t>FAA Delay Cost Baseline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Standard Airlines for America Ref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2179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Decoupled Engineering Stack: Python Ingestion Pipeline  *  SQLite B-Tree LAG() Analytics  *  Scikit-Learn Random Forest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SLIDE 02 // OPERATIONAL PROBLEM</a:t>
            </a:r>
          </a:p>
          <a:p>
            <a:pPr>
              <a:spcBef>
                <a:spcPts val="300"/>
              </a:spcBef>
              <a:defRPr sz="2300" b="1">
                <a:solidFill>
                  <a:srgbClr val="F8FAFC"/>
                </a:solidFill>
              </a:defRPr>
            </a:pPr>
            <a:r>
              <a:t>The Domino Effect: How Ground Turns Propagate Network Delays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</a:defRPr>
            </a:pPr>
            <a:r>
              <a:t>Airlines operate on hyper-compressed turnaround schedules; when ground buffers fail, delays compound exponentially.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64992" cy="470916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Scheduled Turn Buffer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2907792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 Ground Resource Window: </a:t>
            </a:r>
            <a:r>
              <a:rPr b="0" sz="1100">
                <a:solidFill>
                  <a:srgbClr val="94A3B8"/>
                </a:solidFill>
              </a:rPr>
              <a:t>A scheduled 45-60 minute window allocated at the gate for simultaneous deplaning, fueling, cleaning, catering, and boarding.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 Tight Fleet Utilization: </a:t>
            </a:r>
            <a:r>
              <a:rPr b="0" sz="1100">
                <a:solidFill>
                  <a:srgbClr val="94A3B8"/>
                </a:solidFill>
              </a:rPr>
              <a:t>Commercial aircraft generate revenue only while airborne. Tight scheduled turnarounds maximize daily flight hours per tail.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 Fragile Schedule Equilibrium: </a:t>
            </a:r>
            <a:r>
              <a:rPr b="0" sz="1100">
                <a:solidFill>
                  <a:srgbClr val="94A3B8"/>
                </a:solidFill>
              </a:rPr>
              <a:t>Zero slack in downline aircraft rotations means any minor interruption directly endangers subsequent departures.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600200"/>
            <a:ext cx="3364992" cy="470916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1783080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2. Ground Buffer Exhaustion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6008" y="2331720"/>
            <a:ext cx="2907792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 Inbound Latency Shock: </a:t>
            </a:r>
            <a:r>
              <a:rPr b="0" sz="1100">
                <a:solidFill>
                  <a:srgbClr val="94A3B8"/>
                </a:solidFill>
              </a:rPr>
              <a:t>When an aircraft arrives 20 minutes late, the turnaround buffer is immediately compressed. Ground crews must complete all service tasks in negative margin.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 Direct Departure Propagation: </a:t>
            </a:r>
            <a:r>
              <a:rPr b="0" sz="1100">
                <a:solidFill>
                  <a:srgbClr val="94A3B8"/>
                </a:solidFill>
              </a:rPr>
              <a:t>If ground operations take 55 minutes against a compressed 35-minute remaining window, the flight incurs a 20-minute cascading departure delay.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 The Downstream Cascade: </a:t>
            </a:r>
            <a:r>
              <a:rPr b="0" sz="1100">
                <a:solidFill>
                  <a:srgbClr val="94A3B8"/>
                </a:solidFill>
              </a:rPr>
              <a:t>Delay propagates across 3-5 subsequent flight legs throughout the operational day, amplifying passenger misconnects and crew legality breaches.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600200"/>
            <a:ext cx="3364992" cy="470916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1896" y="1783080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EF4444"/>
                </a:solidFill>
              </a:defRPr>
            </a:pPr>
            <a:r>
              <a:t>3. Financial &amp; Network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1896" y="2331720"/>
            <a:ext cx="2907792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 FAA Benchmark: $75 / min: </a:t>
            </a:r>
            <a:r>
              <a:rPr b="0" sz="1100">
                <a:solidFill>
                  <a:srgbClr val="94A3B8"/>
                </a:solidFill>
              </a:rPr>
              <a:t>FAA and Airlines for America establish direct airline operational delay costs at approximately $75 per delay minute (fuel, crew overtime, maintenance).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 $51.2M Unmitigated Exposure: </a:t>
            </a:r>
            <a:r>
              <a:rPr b="0" sz="1100">
                <a:solidFill>
                  <a:srgbClr val="94A3B8"/>
                </a:solidFill>
              </a:rPr>
              <a:t>Across 441K analyzed flights, true positive cascading breaches accounted for 682,723 delayed minutes, representing $51.2M in direct exposure.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 Missed Passenger Connections: </a:t>
            </a:r>
            <a:r>
              <a:rPr b="0" sz="1100">
                <a:solidFill>
                  <a:srgbClr val="94A3B8"/>
                </a:solidFill>
              </a:rPr>
              <a:t>Cascading delays trigger missed international hubs, expensive passenger re-accommodations, gate holds, and DOT regulatory penalties.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SLIDE 03 // SYSTEM ARCHITECTURE</a:t>
            </a:r>
          </a:p>
          <a:p>
            <a:pPr>
              <a:spcBef>
                <a:spcPts val="300"/>
              </a:spcBef>
              <a:defRPr sz="2300" b="1">
                <a:solidFill>
                  <a:srgbClr val="F8FAFC"/>
                </a:solidFill>
              </a:defRPr>
            </a:pPr>
            <a:r>
              <a:t>End-to-End Decoupled Engineering Architecture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</a:defRPr>
            </a:pPr>
            <a:r>
              <a:t>A modular, high-throughput pipeline moving from raw BTS aviation records to predictive dispatch intelligence.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64992" cy="466344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99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PIPELINE 01</a:t>
            </a:r>
          </a:p>
          <a:p>
            <a:pPr>
              <a:spcBef>
                <a:spcPts val="200"/>
              </a:spcBef>
              <a:defRPr sz="1300" b="1">
                <a:solidFill>
                  <a:srgbClr val="F8FAFC"/>
                </a:solidFill>
              </a:defRPr>
            </a:pPr>
            <a:r>
              <a:t>Data Ingestion &amp; Normalization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src/db_setup.py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299923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BTS Raw Telemetry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Ingests 244MB DOT BTS carrier performance datasets comprising 441,348 flight records.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Midnight Rollover Heuristics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Resolves 2400-to-0000 clock transitions and overnight cross-midnight arrivals.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Indexed SQLite Storage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Creates high-throughput WAL-mode database with B-Tree indexes on (Tail_Number, Scheduled_Departure).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645920"/>
            <a:ext cx="3364992" cy="466344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1828800"/>
            <a:ext cx="2999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PIPELINE 02</a:t>
            </a:r>
          </a:p>
          <a:p>
            <a:pPr>
              <a:spcBef>
                <a:spcPts val="200"/>
              </a:spcBef>
              <a:defRPr sz="1300" b="1">
                <a:solidFill>
                  <a:srgbClr val="F8FAFC"/>
                </a:solidFill>
              </a:defRPr>
            </a:pPr>
            <a:r>
              <a:t>Analytical SQL Engine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sql/turnaround_analytics.sql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834640"/>
            <a:ext cx="299923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Aircraft LAG() Windowing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Sequences flights by physical aircraft tail number to capture prior arrival timestamps.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Continuity Validation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Enforces Prior_Dest = Current_Origin to ensure legitimate aircraft rotation legs.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Choke Point Aggregation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Quantifies cascading delay rates by airport hub and airline to isolate operational bottlenecks.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645920"/>
            <a:ext cx="3364992" cy="466344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66176" y="1828800"/>
            <a:ext cx="2999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PIPELINE 03</a:t>
            </a:r>
          </a:p>
          <a:p>
            <a:pPr>
              <a:spcBef>
                <a:spcPts val="200"/>
              </a:spcBef>
              <a:defRPr sz="1300" b="1">
                <a:solidFill>
                  <a:srgbClr val="F8FAFC"/>
                </a:solidFill>
              </a:defRPr>
            </a:pPr>
            <a:r>
              <a:t>Predictive ML &amp; Decision Support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src/train_model.py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176" y="2834640"/>
            <a:ext cx="299923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Feature Engineering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Constructs inbound delay stress, turnaround buffer slack, and rolling route congestion signals.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Class-Balanced Classifier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Employs Random Forest with balanced class weights to eliminate false-negative operational bias.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Quantified Financial ROI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Translates model-predicted delay savings into $10.2M in actionable annual cost recovery.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SLIDE 04 // ANALYTICAL SQL ENGINE</a:t>
            </a:r>
          </a:p>
          <a:p>
            <a:pPr>
              <a:spcBef>
                <a:spcPts val="300"/>
              </a:spcBef>
              <a:defRPr sz="2300" b="1">
                <a:solidFill>
                  <a:srgbClr val="F8FAFC"/>
                </a:solidFill>
              </a:defRPr>
            </a:pPr>
            <a:r>
              <a:t>Aircraft State Sequencing &amp; Hub Choke Point Analytics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</a:defRPr>
            </a:pPr>
            <a:r>
              <a:t>Executing LAG() window functions partitioned by tail number to detect cascading propagation and airport choke points.</a:t>
            </a:r>
          </a:p>
        </p:txBody>
      </p:sp>
      <p:pic>
        <p:nvPicPr>
          <p:cNvPr id="5" name="Picture 4" descr="chart1_choke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548640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92240" y="1600200"/>
            <a:ext cx="4937760" cy="224028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78308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Database-Level Windowing [ LAG()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240280"/>
            <a:ext cx="4480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Zero Iteration Overhead: </a:t>
            </a:r>
            <a:r>
              <a:rPr b="0" sz="1050">
                <a:solidFill>
                  <a:srgbClr val="94A3B8"/>
                </a:solidFill>
              </a:rPr>
              <a:t>Replaces slow Python dataframe row loops with pure C-level SQLite windowing executed inside operations.db.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Physical Tail Rotation: </a:t>
            </a:r>
            <a:r>
              <a:rPr b="0" sz="1050">
                <a:solidFill>
                  <a:srgbClr val="94A3B8"/>
                </a:solidFill>
              </a:rPr>
              <a:t>LAG(Actual_Arrival) OVER (PARTITION BY Tail_Number ORDER BY Scheduled_Departure) accurately reconstructs each aircraft's flight chain.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Buffer Delta Isolation: </a:t>
            </a:r>
            <a:r>
              <a:rPr b="0" sz="1050">
                <a:solidFill>
                  <a:srgbClr val="94A3B8"/>
                </a:solidFill>
              </a:rPr>
              <a:t>Calculates Scheduled Turn - Actual Turn to isolate exact minutes lost on ground.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4069080"/>
            <a:ext cx="4937760" cy="224028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425196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Network Choke Point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4709160"/>
            <a:ext cx="4480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Detroit &amp; Palm Beach Bottlenecks: </a:t>
            </a:r>
            <a:r>
              <a:rPr b="0" sz="1050">
                <a:solidFill>
                  <a:srgbClr val="94A3B8"/>
                </a:solidFill>
              </a:rPr>
              <a:t>DTW (27.1%) and PBI (26.1%) exhibit the highest cascading delay ratios, indicating acute ground crew and de-icing sensitivity.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Congested Megahubs (ORD &amp; ATL): </a:t>
            </a:r>
            <a:r>
              <a:rPr b="0" sz="1050">
                <a:solidFill>
                  <a:srgbClr val="94A3B8"/>
                </a:solidFill>
              </a:rPr>
              <a:t>Chicago O'Hare (ORD 22.0%, 879 delays) and Atlanta (ATL 22.7%) drive the highest gross delay volume due to runway and gate congestion.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Operational Action: </a:t>
            </a:r>
            <a:r>
              <a:rPr b="0" sz="1050">
                <a:solidFill>
                  <a:srgbClr val="94A3B8"/>
                </a:solidFill>
              </a:rPr>
              <a:t>Directs station managers to deploy pre-arrival turn buffers specifically for aircraft originating from high-risk choke points.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SLIDE 05 // PREDICTIVE MODELING</a:t>
            </a:r>
          </a:p>
          <a:p>
            <a:pPr>
              <a:spcBef>
                <a:spcPts val="300"/>
              </a:spcBef>
              <a:defRPr sz="2300" b="1">
                <a:solidFill>
                  <a:srgbClr val="F8FAFC"/>
                </a:solidFill>
              </a:defRPr>
            </a:pPr>
            <a:r>
              <a:t>Feature Signals &amp; Model Validation Scorecard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</a:defRPr>
            </a:pPr>
            <a:r>
              <a:t>Random Forest Classifier trained to anticipate turnaround buffer collapse with high operational precision.</a:t>
            </a:r>
          </a:p>
        </p:txBody>
      </p:sp>
      <p:pic>
        <p:nvPicPr>
          <p:cNvPr id="5" name="Picture 4" descr="chart2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548640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92240" y="1600200"/>
            <a:ext cx="4937760" cy="224028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78308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Primary Predictive Drivers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240280"/>
            <a:ext cx="4480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Inbound Delay Dominance (42.5%): </a:t>
            </a:r>
            <a:r>
              <a:rPr b="0" sz="1050">
                <a:solidFill>
                  <a:srgbClr val="94A3B8"/>
                </a:solidFill>
              </a:rPr>
              <a:t>The incoming aircraft's arrival delay is the single largest predictor of turnaround buffer collapse, cutting into essential servicing slack.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Route Congestion Context (15.6%): </a:t>
            </a:r>
            <a:r>
              <a:rPr b="0" sz="1050">
                <a:solidFill>
                  <a:srgbClr val="94A3B8"/>
                </a:solidFill>
              </a:rPr>
              <a:t>Origin airport rolling congestion captures gate hold-short delays and apron taxiway gridlock.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Aircraft Tail Latency (13.3%): </a:t>
            </a:r>
            <a:r>
              <a:rPr b="0" sz="1050">
                <a:solidFill>
                  <a:srgbClr val="94A3B8"/>
                </a:solidFill>
              </a:rPr>
              <a:t>Historical delay frequency for specific aircraft identifies chronic mechanical or dispatch inefficiencies.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4069080"/>
            <a:ext cx="4937760" cy="224028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425196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Validation Scorecard (88K Holdout Flights)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4709160"/>
            <a:ext cx="4480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PR-AUC: 81.92% | ROC-AUC: 83.25%: </a:t>
            </a:r>
            <a:r>
              <a:rPr b="0" sz="1050">
                <a:solidFill>
                  <a:srgbClr val="94A3B8"/>
                </a:solidFill>
              </a:rPr>
              <a:t>Exceptional classification separability on an operational dataset with 60/40 target distribution.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Precision: 78.44%: </a:t>
            </a:r>
            <a:r>
              <a:rPr b="0" sz="1050">
                <a:solidFill>
                  <a:srgbClr val="94A3B8"/>
                </a:solidFill>
              </a:rPr>
              <a:t>When the model flags a turnaround breach, it is correct in 78.4% of instances, virtually eliminating wasted ground crew deployments.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Combating Alert Fatigue: </a:t>
            </a:r>
            <a:r>
              <a:rPr b="0" sz="1050">
                <a:solidFill>
                  <a:srgbClr val="94A3B8"/>
                </a:solidFill>
              </a:rPr>
              <a:t>High precision ensures that Station Control Center dispatchers trust the system and take immediate action.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SLIDE 06 // FINANCIAL ROI &amp; DISPATCH</a:t>
            </a:r>
          </a:p>
          <a:p>
            <a:pPr>
              <a:spcBef>
                <a:spcPts val="300"/>
              </a:spcBef>
              <a:defRPr sz="2300" b="1">
                <a:solidFill>
                  <a:srgbClr val="F8FAFC"/>
                </a:solidFill>
              </a:defRPr>
            </a:pPr>
            <a:r>
              <a:t>Financial Translation: $10.2M in Quantified Cost Recovery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</a:defRPr>
            </a:pPr>
            <a:r>
              <a:t>Translating machine learning predictions into bottom-line P&amp;L financial returns and ground dispatch playbooks.</a:t>
            </a:r>
          </a:p>
        </p:txBody>
      </p:sp>
      <p:pic>
        <p:nvPicPr>
          <p:cNvPr id="5" name="Picture 4" descr="chart4_finan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548640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92240" y="1600200"/>
            <a:ext cx="4937760" cy="224028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78308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Delay Accounting &amp; Cost Mitigation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240280"/>
            <a:ext cx="4480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22,799 Breaches Intercepted: </a:t>
            </a:r>
            <a:r>
              <a:rPr b="0" sz="1050">
                <a:solidFill>
                  <a:srgbClr val="94A3B8"/>
                </a:solidFill>
              </a:rPr>
              <a:t>The model successfully isolated 22,799 high-risk turnaround delays within the test holdout set.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682,723 Delay Minutes Captured: </a:t>
            </a:r>
            <a:r>
              <a:rPr b="0" sz="1050">
                <a:solidFill>
                  <a:srgbClr val="94A3B8"/>
                </a:solidFill>
              </a:rPr>
              <a:t>Represents the total volume of ground and departure delay minutes accurately identified for early intervention.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$10,240,845 Annual Cost Savings: </a:t>
            </a:r>
            <a:r>
              <a:rPr b="0" sz="1050">
                <a:solidFill>
                  <a:srgbClr val="94A3B8"/>
                </a:solidFill>
              </a:rPr>
              <a:t>Assuming airport turn coordinators recover 20% of predicted delay minutes via tactical pre-arrival interventions.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4069080"/>
            <a:ext cx="4937760" cy="224028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425196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Tactical Station Dispatch Playbooks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4709160"/>
            <a:ext cx="4480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Dynamic Ramp Crew Surges: </a:t>
            </a:r>
            <a:r>
              <a:rPr b="0" sz="1050">
                <a:solidFill>
                  <a:srgbClr val="94A3B8"/>
                </a:solidFill>
              </a:rPr>
              <a:t>Prob &gt; 65% triggers dedicated baggage handlers and fueling teams to pre-position at the gate before touchdown (saves 12-18 min).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Proactive Gate Swapping: </a:t>
            </a:r>
            <a:r>
              <a:rPr b="0" sz="1050">
                <a:solidFill>
                  <a:srgbClr val="94A3B8"/>
                </a:solidFill>
              </a:rPr>
              <a:t>Reroutes late-arriving aircraft to gates with shorter taxi-in distances and dual jet bridges (saves 10-15 min).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Fast-Turn Priority Boarding: </a:t>
            </a:r>
            <a:r>
              <a:rPr b="0" sz="1050">
                <a:solidFill>
                  <a:srgbClr val="94A3B8"/>
                </a:solidFill>
              </a:rPr>
              <a:t>Pre-stages boarding groups and cabin baggage tagging 20 minutes prior to door opening (saves 8-10 min).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