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91440"/>
          </a:xfrm>
          <a:prstGeom prst="rect">
            <a:avLst/>
          </a:prstGeom>
          <a:solidFill>
            <a:srgbClr val="00D2D3"/>
          </a:solidFill>
          <a:ln>
            <a:solidFill>
              <a:srgbClr val="00D2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Commercial Fleet Operations &amp;</a:t>
            </a:r>
            <a:br/>
            <a:r>
              <a:t>Turnaround Optimization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8D0D9"/>
                </a:solidFill>
                <a:latin typeface="Segoe UI"/>
              </a:defRPr>
            </a:pPr>
            <a:r>
              <a:t>Predicting Cascading Delays to Maximize Aircraft Utilization and Reduce Operational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D3"/>
                </a:solidFill>
                <a:latin typeface="Segoe UI"/>
              </a:defRPr>
            </a:pPr>
            <a:r>
              <a:t>End-to-End Analytics &amp; Machine Learning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D3"/>
                </a:solidFill>
                <a:latin typeface="Segoe UI"/>
              </a:defRPr>
            </a:pPr>
            <a:r>
              <a:t>The Operational Bottleneck: Cascading Delays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Airlines operate on incredibly tight turnaround schedules to maximize aircraft utilization.</a:t>
            </a:r>
          </a:p>
          <a:p>
            <a:pPr lvl="1">
              <a:defRPr sz="2200" b="1">
                <a:solidFill>
                  <a:srgbClr val="FDA05B"/>
                </a:solidFill>
                <a:latin typeface="Segoe UI"/>
              </a:defRPr>
            </a:pPr>
            <a:r>
              <a:t>The Turnaround Buffer</a:t>
            </a:r>
          </a:p>
          <a:p>
            <a:pPr lvl="2">
              <a:defRPr sz="1800" b="0">
                <a:solidFill>
                  <a:srgbClr val="C8D0D9"/>
                </a:solidFill>
                <a:latin typeface="Segoe UI"/>
              </a:defRPr>
            </a:pPr>
            <a:r>
              <a:t>The scheduled ground time allocated for cleaning, fueling, and boarding between an aircraft's arrival and its next departure.</a:t>
            </a:r>
          </a:p>
          <a:p>
            <a:pPr lvl="1">
              <a:defRPr sz="2200" b="1">
                <a:solidFill>
                  <a:srgbClr val="FDA05B"/>
                </a:solidFill>
                <a:latin typeface="Segoe UI"/>
              </a:defRPr>
            </a:pPr>
            <a:r>
              <a:t>The Domino Effect (Cascading Delays)</a:t>
            </a:r>
          </a:p>
          <a:p>
            <a:pPr lvl="2">
              <a:defRPr sz="1800" b="0">
                <a:solidFill>
                  <a:srgbClr val="C8D0D9"/>
                </a:solidFill>
                <a:latin typeface="Segoe UI"/>
              </a:defRPr>
            </a:pPr>
            <a:r>
              <a:t>When an aircraft arrives late, or ground operations exceed the buffer, the delay directly propagates to the next flight utilizing that same physical aircraft.</a:t>
            </a:r>
          </a:p>
          <a:p>
            <a:pPr lvl="1">
              <a:defRPr sz="2200" b="1">
                <a:solidFill>
                  <a:srgbClr val="FDA05B"/>
                </a:solidFill>
                <a:latin typeface="Segoe UI"/>
              </a:defRPr>
            </a:pPr>
            <a:r>
              <a:t>The Financial Hemorrhage</a:t>
            </a:r>
          </a:p>
          <a:p>
            <a:pPr lvl="2">
              <a:defRPr sz="1800" b="0">
                <a:solidFill>
                  <a:srgbClr val="C8D0D9"/>
                </a:solidFill>
                <a:latin typeface="Segoe UI"/>
              </a:defRPr>
            </a:pPr>
            <a:r>
              <a:t>According to the FAA and Airlines for America, every single minute of delay costs an airline approximately $75 in crew overtime, passenger compensations, and fuel inefficiencies.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D3"/>
                </a:solidFill>
                <a:latin typeface="Segoe UI"/>
              </a:defRPr>
            </a:pPr>
            <a:r>
              <a:t>Phase 1: Robust Data Ingestion &amp; Engineering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86000"/>
            <a:ext cx="2926080" cy="2743200"/>
          </a:xfrm>
          <a:prstGeom prst="roundRect">
            <a:avLst/>
          </a:prstGeom>
          <a:solidFill>
            <a:srgbClr val="14325A"/>
          </a:solidFill>
          <a:ln>
            <a:solidFill>
              <a:srgbClr val="00D2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468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DA05B"/>
                </a:solidFill>
                <a:latin typeface="Segoe UI"/>
              </a:defRPr>
            </a:pPr>
            <a:r>
              <a:t>1. Raw Data Parsing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004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D0D9"/>
                </a:solidFill>
                <a:latin typeface="Segoe UI"/>
              </a:defRPr>
            </a:pPr>
            <a:r>
              <a:t>Scans root directories for CSV/ZIP datasets.</a:t>
            </a:r>
            <a:br/>
            <a:br/>
            <a:r>
              <a:t>Cleans missing values and transforms complex float time-series data into standard Python DateTime objects.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286000"/>
            <a:ext cx="2926080" cy="2743200"/>
          </a:xfrm>
          <a:prstGeom prst="roundRect">
            <a:avLst/>
          </a:prstGeom>
          <a:solidFill>
            <a:srgbClr val="14325A"/>
          </a:solidFill>
          <a:ln>
            <a:solidFill>
              <a:srgbClr val="00D2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468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DA05B"/>
                </a:solidFill>
                <a:latin typeface="Segoe UI"/>
              </a:defRPr>
            </a:pPr>
            <a:r>
              <a:t>2. Transformation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2004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D0D9"/>
                </a:solidFill>
                <a:latin typeface="Segoe UI"/>
              </a:defRPr>
            </a:pPr>
            <a:r>
              <a:t>Mathematically derives Actual vs Scheduled durations.</a:t>
            </a:r>
            <a:br/>
            <a:br/>
            <a:r>
              <a:t>Heuristically adjusts for complex edge-cases like overnight flight arrivals spanning multiple days.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286000"/>
            <a:ext cx="2926080" cy="2743200"/>
          </a:xfrm>
          <a:prstGeom prst="roundRect">
            <a:avLst/>
          </a:prstGeom>
          <a:solidFill>
            <a:srgbClr val="14325A"/>
          </a:solidFill>
          <a:ln>
            <a:solidFill>
              <a:srgbClr val="00D2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2468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DA05B"/>
                </a:solidFill>
                <a:latin typeface="Segoe UI"/>
              </a:defRPr>
            </a:pPr>
            <a:r>
              <a:t>3. SQLite Database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2004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D0D9"/>
                </a:solidFill>
                <a:latin typeface="Segoe UI"/>
              </a:defRPr>
            </a:pPr>
            <a:r>
              <a:t>Loads clean data into a local 'operations.db' database.</a:t>
            </a:r>
            <a:br/>
            <a:br/>
            <a:r>
              <a:t>Builds B-Tree indexes on Tail Numbers and Origins to guarantee rapid downstream SQL querying.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D3"/>
                </a:solidFill>
                <a:latin typeface="Segoe UI"/>
              </a:defRPr>
            </a:pPr>
            <a:r>
              <a:t>Phase 2: The Analytical SQL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Unlocking Network Intelligence using Advanced Window Functions</a:t>
            </a:r>
          </a:p>
          <a:p>
            <a:pPr lvl="1">
              <a:defRPr sz="2200" b="1">
                <a:solidFill>
                  <a:srgbClr val="FDA05B"/>
                </a:solidFill>
                <a:latin typeface="Segoe UI"/>
              </a:defRPr>
            </a:pPr>
            <a:r>
              <a:t>Common Table Expressions (CTEs)</a:t>
            </a:r>
          </a:p>
          <a:p>
            <a:pPr lvl="2">
              <a:defRPr sz="1800" b="0">
                <a:solidFill>
                  <a:srgbClr val="C8D0D9"/>
                </a:solidFill>
                <a:latin typeface="Segoe UI"/>
              </a:defRPr>
            </a:pPr>
            <a:r>
              <a:t>Instead of complex Python loops, we utilize highly optimized SQL CTEs to trace aircraft history.</a:t>
            </a:r>
          </a:p>
          <a:p>
            <a:pPr lvl="1">
              <a:defRPr sz="2200" b="1">
                <a:solidFill>
                  <a:srgbClr val="FDA05B"/>
                </a:solidFill>
                <a:latin typeface="Segoe UI"/>
              </a:defRPr>
            </a:pPr>
            <a:r>
              <a:t>Physical Aircraft Sequencing [ LAG() ]</a:t>
            </a:r>
          </a:p>
          <a:p>
            <a:pPr lvl="2">
              <a:defRPr sz="1800" b="0">
                <a:solidFill>
                  <a:srgbClr val="C8D0D9"/>
                </a:solidFill>
                <a:latin typeface="Segoe UI"/>
              </a:defRPr>
            </a:pPr>
            <a:r>
              <a:t>By partitioning data by 'Tail_Number' and ordering by 'Scheduled_Departure', we dynamically lookup the exact arrival time and location of the aircraft's prior flight.</a:t>
            </a:r>
          </a:p>
          <a:p>
            <a:pPr lvl="2">
              <a:defRPr sz="1800" b="0">
                <a:solidFill>
                  <a:srgbClr val="C8D0D9"/>
                </a:solidFill>
                <a:latin typeface="Segoe UI"/>
              </a:defRPr>
            </a:pPr>
            <a:r>
              <a:t>This confirms physical aircraft continuity (Prior Destination = Current Origin) to calculate true ground turnaround metrics.</a:t>
            </a:r>
          </a:p>
          <a:p>
            <a:pPr lvl="1">
              <a:defRPr sz="2200" b="1">
                <a:solidFill>
                  <a:srgbClr val="FDA05B"/>
                </a:solidFill>
                <a:latin typeface="Segoe UI"/>
              </a:defRPr>
            </a:pPr>
            <a:r>
              <a:t>Isolating Network Choke Points</a:t>
            </a:r>
          </a:p>
          <a:p>
            <a:pPr lvl="2">
              <a:defRPr sz="1800" b="0">
                <a:solidFill>
                  <a:srgbClr val="C8D0D9"/>
                </a:solidFill>
                <a:latin typeface="Segoe UI"/>
              </a:defRPr>
            </a:pPr>
            <a:r>
              <a:t>We aggregate these metrics by Airport and Carrier, flagging flights where an inbound delay directly triggered an outbound delay, effectively creating a map of operational choke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D3"/>
                </a:solidFill>
                <a:latin typeface="Segoe UI"/>
              </a:defRPr>
            </a:pPr>
            <a:r>
              <a:t>Phase 3: Machine Learning &amp;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 b="1">
                <a:solidFill>
                  <a:srgbClr val="FDA05B"/>
                </a:solidFill>
                <a:latin typeface="Segoe UI"/>
              </a:defRPr>
            </a:pPr>
            <a:r>
              <a:t>The Goal</a:t>
            </a:r>
          </a:p>
          <a:p>
            <a:pPr lvl="1">
              <a:defRPr sz="1800" b="0">
                <a:solidFill>
                  <a:srgbClr val="C8D0D9"/>
                </a:solidFill>
                <a:latin typeface="Segoe UI"/>
              </a:defRPr>
            </a:pPr>
            <a:r>
              <a:t>Predict if a flight will breach its turnaround buffer and cause severe downstream delays.</a:t>
            </a:r>
          </a:p>
          <a:p>
            <a:pPr>
              <a:defRPr sz="2400" b="1">
                <a:solidFill>
                  <a:srgbClr val="FDA05B"/>
                </a:solidFill>
                <a:latin typeface="Segoe UI"/>
              </a:defRPr>
            </a:pPr>
            <a:r>
              <a:t>Feature Engineering</a:t>
            </a:r>
          </a:p>
          <a:p>
            <a:pPr lvl="1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Turn Buffer Volume (Mins)</a:t>
            </a:r>
          </a:p>
          <a:p>
            <a:pPr lvl="1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Inbound Delay Stress</a:t>
            </a:r>
          </a:p>
          <a:p>
            <a:pPr lvl="1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Route Congestion Profiles</a:t>
            </a:r>
          </a:p>
          <a:p>
            <a:pPr lvl="1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Tail-Number Historical Delay Frequencies</a:t>
            </a:r>
          </a:p>
          <a:p>
            <a:pPr>
              <a:defRPr sz="2400" b="1">
                <a:solidFill>
                  <a:srgbClr val="FDA05B"/>
                </a:solidFill>
                <a:latin typeface="Segoe UI"/>
              </a:defRPr>
            </a:pPr>
            <a:r>
              <a:t>The Algorithm</a:t>
            </a:r>
          </a:p>
          <a:p>
            <a:pPr lvl="1">
              <a:defRPr sz="1800" b="0">
                <a:solidFill>
                  <a:srgbClr val="C8D0D9"/>
                </a:solidFill>
                <a:latin typeface="Segoe UI"/>
              </a:defRPr>
            </a:pPr>
            <a:r>
              <a:t>Random Forest Classifier. We explicitly combat dataset class-imbalance by utilizing computationally balanced class weights.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828800"/>
            <a:ext cx="4572000" cy="3657600"/>
          </a:xfrm>
          <a:prstGeom prst="roundRect">
            <a:avLst/>
          </a:prstGeom>
          <a:solidFill>
            <a:srgbClr val="14325A"/>
          </a:solidFill>
          <a:ln>
            <a:solidFill>
              <a:srgbClr val="00D2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DA05B"/>
                </a:solidFill>
                <a:latin typeface="Segoe UI"/>
              </a:defRPr>
            </a:pPr>
            <a:r>
              <a:t>Model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74320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PR-AUC Score: 0.82</a:t>
            </a:r>
            <a:br/>
            <a:br/>
            <a:r>
              <a:t>Precision: 78.4%</a:t>
            </a:r>
            <a:br/>
            <a:r>
              <a:t>(High accuracy when flagging delays)</a:t>
            </a:r>
            <a:br/>
            <a:br/>
            <a:r>
              <a:t>Recall: 65.9%</a:t>
            </a:r>
            <a:br/>
            <a:r>
              <a:t>(Caught 66% of all actual delays)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D3"/>
                </a:solidFill>
                <a:latin typeface="Segoe UI"/>
              </a:defRPr>
            </a:pPr>
            <a:r>
              <a:t>Phase 4: Operational Financial Translation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C8D0D9"/>
                </a:solidFill>
                <a:latin typeface="Segoe UI"/>
              </a:defRPr>
            </a:pPr>
            <a:r>
              <a:t>Translating data science metrics into executive financial value.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560320"/>
            <a:ext cx="4114800" cy="2286000"/>
          </a:xfrm>
          <a:prstGeom prst="rect">
            <a:avLst/>
          </a:prstGeom>
          <a:solidFill>
            <a:srgbClr val="281414"/>
          </a:solidFill>
          <a:ln>
            <a:solidFill>
              <a:srgbClr val="FF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8D0D9"/>
                </a:solidFill>
                <a:latin typeface="Segoe UI"/>
              </a:defRPr>
            </a:pPr>
            <a:r>
              <a:t>Predicted Delay Cost Exposure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4747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6464"/>
                </a:solidFill>
                <a:latin typeface="Segoe UI"/>
              </a:defRPr>
            </a:pPr>
            <a:r>
              <a:t>$51.2 Million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560320"/>
            <a:ext cx="4114800" cy="2286000"/>
          </a:xfrm>
          <a:prstGeom prst="rect">
            <a:avLst/>
          </a:prstGeom>
          <a:solidFill>
            <a:srgbClr val="142814"/>
          </a:solidFill>
          <a:ln>
            <a:solidFill>
              <a:srgbClr val="32FF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926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8D0D9"/>
                </a:solidFill>
                <a:latin typeface="Segoe UI"/>
              </a:defRPr>
            </a:pPr>
            <a:r>
              <a:t>Potential Operational Savings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4747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64FF64"/>
                </a:solidFill>
                <a:latin typeface="Segoe UI"/>
              </a:defRPr>
            </a:pPr>
            <a:r>
              <a:t>$10.2 Million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389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D0D9"/>
                </a:solidFill>
                <a:latin typeface="Segoe UI"/>
              </a:defRPr>
            </a:pPr>
            <a:r>
              <a:t>Assuming 20% Intervention Mitigation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