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</a:defRPr>
            </a:pPr>
            <a:r>
              <a:t>ENTERPRISE FLEET ANALYTICS // FLIGHT OPERATIONS CONTROL CENTER</a:t>
            </a:r>
          </a:p>
          <a:p>
            <a:pPr>
              <a:spcBef>
                <a:spcPts val="800"/>
              </a:spcBef>
              <a:defRPr sz="3600" b="1">
                <a:solidFill>
                  <a:srgbClr val="F8FAFC"/>
                </a:solidFill>
              </a:defRPr>
            </a:pPr>
            <a:r>
              <a:t>Commercial Fleet Operations &amp;</a:t>
            </a:r>
            <a:br/>
            <a:r>
              <a:t>Turnaround Optimization Model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</a:defRPr>
            </a:pPr>
            <a:r>
              <a:t>Predicting Turnaround Buffer Breaches to Eliminate Cascading Delays and Maximize Aircraft Utilization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2514600" cy="22860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4884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86200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0B981"/>
                </a:solidFill>
              </a:defRPr>
            </a:pPr>
            <a:r>
              <a:t>$10.24M</a:t>
            </a:r>
          </a:p>
          <a:p>
            <a:pPr>
              <a:spcBef>
                <a:spcPts val="600"/>
              </a:spcBef>
              <a:defRPr sz="1300" b="1">
                <a:solidFill>
                  <a:srgbClr val="F8FAFC"/>
                </a:solidFill>
              </a:defRPr>
            </a:pPr>
            <a:r>
              <a:t>Annual Cost Savings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20% Tactical Mitigation ROI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3566160"/>
            <a:ext cx="2514600" cy="22860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48456" y="3566160"/>
            <a:ext cx="21488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3886200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38BDF8"/>
                </a:solidFill>
              </a:defRPr>
            </a:pPr>
            <a:r>
              <a:t>441,348</a:t>
            </a:r>
          </a:p>
          <a:p>
            <a:pPr>
              <a:spcBef>
                <a:spcPts val="600"/>
              </a:spcBef>
              <a:defRPr sz="1300" b="1">
                <a:solidFill>
                  <a:srgbClr val="F8FAFC"/>
                </a:solidFill>
              </a:defRPr>
            </a:pPr>
            <a:r>
              <a:t>Turnarounds Analyzed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DOT Bureau of Transp. Stats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3566160"/>
            <a:ext cx="2514600" cy="22860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82512" y="3566160"/>
            <a:ext cx="214884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3886200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</a:defRPr>
            </a:pPr>
            <a:r>
              <a:t>81.92%</a:t>
            </a:r>
          </a:p>
          <a:p>
            <a:pPr>
              <a:spcBef>
                <a:spcPts val="600"/>
              </a:spcBef>
              <a:defRPr sz="1300" b="1">
                <a:solidFill>
                  <a:srgbClr val="F8FAFC"/>
                </a:solidFill>
              </a:defRPr>
            </a:pPr>
            <a:r>
              <a:t>PR-AUC Classification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Random Forest Predictive Power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3688" y="3566160"/>
            <a:ext cx="2514600" cy="228600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16568" y="3566160"/>
            <a:ext cx="214884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16568" y="3886200"/>
            <a:ext cx="2148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59E0B"/>
                </a:solidFill>
              </a:defRPr>
            </a:pPr>
            <a:r>
              <a:t>$75.00/min</a:t>
            </a:r>
          </a:p>
          <a:p>
            <a:pPr>
              <a:spcBef>
                <a:spcPts val="600"/>
              </a:spcBef>
              <a:defRPr sz="1300" b="1">
                <a:solidFill>
                  <a:srgbClr val="F8FAFC"/>
                </a:solidFill>
              </a:defRPr>
            </a:pPr>
            <a:r>
              <a:t>FAA Delay Cost Baseline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Standard Airlines for America Ref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Decoupled Engineering Stack: Python Ingestion Pipeline  *  SQLite B-Tree LAG() Analytics  *  Scikit-Learn Random Forest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PHASE 01 // THE OPERATIONAL BOTTLENECK</a:t>
            </a:r>
          </a:p>
          <a:p>
            <a:pPr>
              <a:spcBef>
                <a:spcPts val="300"/>
              </a:spcBef>
              <a:defRPr sz="2300" b="1">
                <a:solidFill>
                  <a:srgbClr val="F8FAFC"/>
                </a:solidFill>
              </a:defRPr>
            </a:pPr>
            <a:r>
              <a:t>The Domino Effect: How Ground Turns Propagate Network Delays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</a:defRPr>
            </a:pPr>
            <a:r>
              <a:t>Airlines operate on hyper-compressed turnaround windows; when ground buffers fail, delays compound exponentially.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64992" cy="470916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1. The Scheduled Turn Buffer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2907792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Ground Resource Window: </a:t>
            </a:r>
            <a:r>
              <a:rPr b="0" sz="1100">
                <a:solidFill>
                  <a:srgbClr val="94A3B8"/>
                </a:solidFill>
              </a:rPr>
              <a:t>A scheduled 45-60 minute window allocated at the gate for simultaneous deplaning, baggage unloading, fueling, cleaning, catering, and passenger boarding.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Tight Fleet Utilization: </a:t>
            </a:r>
            <a:r>
              <a:rPr b="0" sz="1100">
                <a:solidFill>
                  <a:srgbClr val="94A3B8"/>
                </a:solidFill>
              </a:rPr>
              <a:t>Commercial aircraft generate revenue only while airborne. Tight scheduled turnarounds maximize daily flight hours per tail.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Fragile Schedule Equilibrium: </a:t>
            </a:r>
            <a:r>
              <a:rPr b="0" sz="1100">
                <a:solidFill>
                  <a:srgbClr val="94A3B8"/>
                </a:solidFill>
              </a:rPr>
              <a:t>Zero slack in downline aircraft rotations means any minor interruption directly endangers subsequent departures.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600200"/>
            <a:ext cx="3364992" cy="470916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1783080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2. Ground Buffer Exhaustion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8" y="2331720"/>
            <a:ext cx="2907792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Inbound Latency Shock: </a:t>
            </a:r>
            <a:r>
              <a:rPr b="0" sz="1100">
                <a:solidFill>
                  <a:srgbClr val="94A3B8"/>
                </a:solidFill>
              </a:rPr>
              <a:t>When an aircraft arrives 20 minutes late, the turnaround buffer is immediately compressed. Ground crews must complete all service tasks in negative margin.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Direct Departure Propagation: </a:t>
            </a:r>
            <a:r>
              <a:rPr b="0" sz="1100">
                <a:solidFill>
                  <a:srgbClr val="94A3B8"/>
                </a:solidFill>
              </a:rPr>
              <a:t>If ground operations take 55 minutes against a compressed 35-minute remaining window, the flight incurs a 20-minute cascading departure delay.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The Downstream Cascade: </a:t>
            </a:r>
            <a:r>
              <a:rPr b="0" sz="1100">
                <a:solidFill>
                  <a:srgbClr val="94A3B8"/>
                </a:solidFill>
              </a:rPr>
              <a:t>Delay propagates across 3-5 subsequent flight legs throughout the operational day, amplifying passenger misconnects and crew legality breaches.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600200"/>
            <a:ext cx="3364992" cy="470916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1783080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EF4444"/>
                </a:solidFill>
              </a:defRPr>
            </a:pPr>
            <a:r>
              <a:t>3. Financial &amp; Network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896" y="2331720"/>
            <a:ext cx="2907792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FAA Benchmark: $75 / min: </a:t>
            </a:r>
            <a:r>
              <a:rPr b="0" sz="1100">
                <a:solidFill>
                  <a:srgbClr val="94A3B8"/>
                </a:solidFill>
              </a:rPr>
              <a:t>FAA and Airlines for America establish direct airline operational delay costs at approximately $75 per delay minute (fuel, crew overtime, maintenance).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$51.2M Unmitigated Exposure: </a:t>
            </a:r>
            <a:r>
              <a:rPr b="0" sz="1100">
                <a:solidFill>
                  <a:srgbClr val="94A3B8"/>
                </a:solidFill>
              </a:rPr>
              <a:t>Across 441K analyzed flights, true positive cascading breaches accounted for 682,723 delayed minutes, representing $51.2M in direct exposure.</a:t>
            </a:r>
          </a:p>
          <a:p>
            <a:pPr>
              <a:spcBef>
                <a:spcPts val="800"/>
              </a:spcBef>
              <a:defRPr b="1" sz="1200">
                <a:solidFill>
                  <a:srgbClr val="F8FAFC"/>
                </a:solidFill>
              </a:defRPr>
            </a:pPr>
            <a:r>
              <a:t>•  Missed Passenger Connections: </a:t>
            </a:r>
            <a:r>
              <a:rPr b="0" sz="1100">
                <a:solidFill>
                  <a:srgbClr val="94A3B8"/>
                </a:solidFill>
              </a:rPr>
              <a:t>Cascading delays trigger missed international hubs, expensive passenger re-accommodations, gate holds, and DOT regulatory penalties.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PHASE 02 // ENGINEERING ARCHITECTURE</a:t>
            </a:r>
          </a:p>
          <a:p>
            <a:pPr>
              <a:spcBef>
                <a:spcPts val="300"/>
              </a:spcBef>
              <a:defRPr sz="2300" b="1">
                <a:solidFill>
                  <a:srgbClr val="F8FAFC"/>
                </a:solidFill>
              </a:defRPr>
            </a:pPr>
            <a:r>
              <a:t>End-to-End Four-Stage Optimization Pipeline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</a:defRPr>
            </a:pPr>
            <a:r>
              <a:t>Decoupled, high-throughput pipeline moving from raw BTS aviation records to predictive dispatch intelligence.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14600" cy="466344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STAGE 01</a:t>
            </a:r>
          </a:p>
          <a:p>
            <a:pPr>
              <a:spcBef>
                <a:spcPts val="200"/>
              </a:spcBef>
              <a:defRPr sz="1300" b="1">
                <a:solidFill>
                  <a:srgbClr val="F8FAFC"/>
                </a:solidFill>
              </a:defRPr>
            </a:pPr>
            <a:r>
              <a:t>Data Ingestion &amp; Normalization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src/db_setup.py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2148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BTS Raw Datasets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Ingests 244MB DOT BTS carrier performance CSVs containing 440k+ flight records.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Overnight Heuristics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Resolves midnight clock rollovers (2400 to 0000) and multi-day arrival adjustments.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Indexed SQLite Storage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Builds B-Tree compound indexes on (Tail_Number, Scheduled_Departure) for sub-second queries.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645920"/>
            <a:ext cx="2514600" cy="466344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8456" y="182880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STAGE 02</a:t>
            </a:r>
          </a:p>
          <a:p>
            <a:pPr>
              <a:spcBef>
                <a:spcPts val="200"/>
              </a:spcBef>
              <a:defRPr sz="1300" b="1">
                <a:solidFill>
                  <a:srgbClr val="F8FAFC"/>
                </a:solidFill>
              </a:defRPr>
            </a:pPr>
            <a:r>
              <a:t>Analytical SQL Engine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sql/turnaround_analytics.sql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48456" y="2834640"/>
            <a:ext cx="2148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Physical Tail Tracking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Executes LAG() window functions partitioned by aircraft tail to trace prior arrivals.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Continuity Verification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Enforces Prior_Dest = Current_Origin to ensure aircraft physical continuity.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Choke Point Aggregation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Quantifies cascading delay rates across airport hubs to isolate network bottlenecks.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645920"/>
            <a:ext cx="2514600" cy="466344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82880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STAGE 03</a:t>
            </a:r>
          </a:p>
          <a:p>
            <a:pPr>
              <a:spcBef>
                <a:spcPts val="200"/>
              </a:spcBef>
              <a:defRPr sz="1300" b="1">
                <a:solidFill>
                  <a:srgbClr val="F8FAFC"/>
                </a:solidFill>
              </a:defRPr>
            </a:pPr>
            <a:r>
              <a:t>Predictive ML Engine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src/train_model.py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834640"/>
            <a:ext cx="2148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Feature Engineering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Constructs turnaround buffer slack, inbound delay stress, and route congestion metrics.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Class-Imbalance Handling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Configures balanced class weights to eliminate false-negative operational bias.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Validation Scorecard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Delivers 81.92% PR-AUC and 78.44% precision across 88,270 out-of-sample flights.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3688" y="1645920"/>
            <a:ext cx="2514600" cy="466344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6568" y="1828800"/>
            <a:ext cx="2148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STAGE 04</a:t>
            </a:r>
          </a:p>
          <a:p>
            <a:pPr>
              <a:spcBef>
                <a:spcPts val="200"/>
              </a:spcBef>
              <a:defRPr sz="1300" b="1">
                <a:solidFill>
                  <a:srgbClr val="F8FAFC"/>
                </a:solidFill>
              </a:defRPr>
            </a:pPr>
            <a:r>
              <a:t>Dispatch &amp; ROI Translation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Executive Decision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6568" y="2834640"/>
            <a:ext cx="2148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Turn Breach Probabilities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Generates real-time risk scores 60-90 minutes prior to touchdown.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Tactical Interventions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Enables proactive gate reassignment, ground-crew surges, and priority boarding.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• $10.24M Bottom-Line ROI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Translates true positive delay mitigations directly into quantified operational savings.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PHASE 03 // ANALYTICAL SQL ENGINE</a:t>
            </a:r>
          </a:p>
          <a:p>
            <a:pPr>
              <a:spcBef>
                <a:spcPts val="300"/>
              </a:spcBef>
              <a:defRPr sz="2300" b="1">
                <a:solidFill>
                  <a:srgbClr val="F8FAFC"/>
                </a:solidFill>
              </a:defRPr>
            </a:pPr>
            <a:r>
              <a:t>Aircraft State Sequencing &amp; Hub Choke Point Analytics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</a:defRPr>
            </a:pPr>
            <a:r>
              <a:t>Executing LAG() window functions partitioned by tail number to detect cascading propagation and airport choke points.</a:t>
            </a:r>
          </a:p>
        </p:txBody>
      </p:sp>
      <p:pic>
        <p:nvPicPr>
          <p:cNvPr id="5" name="Picture 4" descr="chart1_choke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4864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92240" y="1600200"/>
            <a:ext cx="4937760" cy="224028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78308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Database-Level Windowing [ LAG()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240280"/>
            <a:ext cx="4480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Zero Iteration Overhead: </a:t>
            </a:r>
            <a:r>
              <a:rPr b="0" sz="1050">
                <a:solidFill>
                  <a:srgbClr val="94A3B8"/>
                </a:solidFill>
              </a:rPr>
              <a:t>Replaces slow Python dataframe row loops with pure C-level SQLite windowing executed inside operations.db.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Physical Tail Rotation: </a:t>
            </a:r>
            <a:r>
              <a:rPr b="0" sz="1050">
                <a:solidFill>
                  <a:srgbClr val="94A3B8"/>
                </a:solidFill>
              </a:rPr>
              <a:t>LAG(Actual_Arrival) OVER (PARTITION BY Tail_Number ORDER BY Scheduled_Departure) accurately reconstructs each aircraft's flight chain.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Buffer Delta Isolation: </a:t>
            </a:r>
            <a:r>
              <a:rPr b="0" sz="1050">
                <a:solidFill>
                  <a:srgbClr val="94A3B8"/>
                </a:solidFill>
              </a:rPr>
              <a:t>Calculates Scheduled Turn - Actual Turn to isolate exact minutes lost on ground.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069080"/>
            <a:ext cx="4937760" cy="224028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425196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Network Choke Point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4709160"/>
            <a:ext cx="4480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Detroit &amp; Palm Beach Bottlenecks: </a:t>
            </a:r>
            <a:r>
              <a:rPr b="0" sz="1050">
                <a:solidFill>
                  <a:srgbClr val="94A3B8"/>
                </a:solidFill>
              </a:rPr>
              <a:t>DTW (27.1%) and PBI (26.1%) exhibit the highest cascading delay ratios, indicating acute ground crew and de-icing sensitivity.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Congested Megahubs (ORD &amp; ATL): </a:t>
            </a:r>
            <a:r>
              <a:rPr b="0" sz="1050">
                <a:solidFill>
                  <a:srgbClr val="94A3B8"/>
                </a:solidFill>
              </a:rPr>
              <a:t>Chicago O'Hare (ORD 22.0%, 879 delays) and Atlanta (ATL 22.7%) drive the highest gross delay volume due to runway and gate congestion.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Operational Action: </a:t>
            </a:r>
            <a:r>
              <a:rPr b="0" sz="1050">
                <a:solidFill>
                  <a:srgbClr val="94A3B8"/>
                </a:solidFill>
              </a:rPr>
              <a:t>Directs station managers to deploy pre-arrival turn buffers specifically for aircraft originating from high-risk choke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PHASE 04 // PREDICTIVE MACHINE LEARNING</a:t>
            </a:r>
          </a:p>
          <a:p>
            <a:pPr>
              <a:spcBef>
                <a:spcPts val="300"/>
              </a:spcBef>
              <a:defRPr sz="2300" b="1">
                <a:solidFill>
                  <a:srgbClr val="F8FAFC"/>
                </a:solidFill>
              </a:defRPr>
            </a:pPr>
            <a:r>
              <a:t>Feature Engineering Signals &amp; Random Forest Architecture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</a:defRPr>
            </a:pPr>
            <a:r>
              <a:t>Training an enterprise Random Forest classifier to identify flights with high probability of ground turnaround failure.</a:t>
            </a:r>
          </a:p>
        </p:txBody>
      </p:sp>
      <p:pic>
        <p:nvPicPr>
          <p:cNvPr id="5" name="Picture 4" descr="chart2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4864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92240" y="1600200"/>
            <a:ext cx="4937760" cy="224028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78308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Primary Predictive Drivers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240280"/>
            <a:ext cx="4480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Inbound Delay Dominance (42.2%): </a:t>
            </a:r>
            <a:r>
              <a:rPr b="0" sz="1050">
                <a:solidFill>
                  <a:srgbClr val="94A3B8"/>
                </a:solidFill>
              </a:rPr>
              <a:t>The incoming aircraft's delay is the single largest predictor of turnaround buffer collapse, cutting into essential servicing slack.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Network Choke Context (15.8%): </a:t>
            </a:r>
            <a:r>
              <a:rPr b="0" sz="1050">
                <a:solidFill>
                  <a:srgbClr val="94A3B8"/>
                </a:solidFill>
              </a:rPr>
              <a:t>Origin airport rolling congestion captures gate hold-short delays and apron taxiway gridlock.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Aircraft Tail Latency (13.4%): </a:t>
            </a:r>
            <a:r>
              <a:rPr b="0" sz="1050">
                <a:solidFill>
                  <a:srgbClr val="94A3B8"/>
                </a:solidFill>
              </a:rPr>
              <a:t>Historical delay frequency for specific aircraft identifies chronic mechanical or dispatch inefficiencies.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069080"/>
            <a:ext cx="4937760" cy="224028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425196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Class Imbalance &amp; Robustness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4709160"/>
            <a:ext cx="4480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Balanced Class Weighting: </a:t>
            </a:r>
            <a:r>
              <a:rPr b="0" sz="1050">
                <a:solidFill>
                  <a:srgbClr val="94A3B8"/>
                </a:solidFill>
              </a:rPr>
              <a:t>With 60.8% on-time vs 39.2% delayed flights, standard models under-predict delays. We apply class_weight='balanced' to penalize missed breaches.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No Synthetic Overfitting: </a:t>
            </a:r>
            <a:r>
              <a:rPr b="0" sz="1050">
                <a:solidFill>
                  <a:srgbClr val="94A3B8"/>
                </a:solidFill>
              </a:rPr>
              <a:t>Avoids synthetic data artifacts (SMOTE) by leveraging true operational probabilities across 441K observations.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Stratified Holdout Evaluation: </a:t>
            </a:r>
            <a:r>
              <a:rPr b="0" sz="1050">
                <a:solidFill>
                  <a:srgbClr val="94A3B8"/>
                </a:solidFill>
              </a:rPr>
              <a:t>Evaluated on a 20% strictly stratified out-of-sample holdout set (88,270 flights) to ensure generalizability.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PHASE 05 // MODEL VALIDATION &amp; METRICS</a:t>
            </a:r>
          </a:p>
          <a:p>
            <a:pPr>
              <a:spcBef>
                <a:spcPts val="300"/>
              </a:spcBef>
              <a:defRPr sz="2300" b="1">
                <a:solidFill>
                  <a:srgbClr val="F8FAFC"/>
                </a:solidFill>
              </a:defRPr>
            </a:pPr>
            <a:r>
              <a:t>Rigorous Holdout Evaluation: Precision-Recall &amp; Operational Fit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</a:defRPr>
            </a:pPr>
            <a:r>
              <a:t>Evaluating model reliability across 88,270 out-of-sample flights to ensure minimal false alarms in operational dispatch.</a:t>
            </a:r>
          </a:p>
        </p:txBody>
      </p:sp>
      <p:pic>
        <p:nvPicPr>
          <p:cNvPr id="5" name="Picture 4" descr="chart3_eval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4864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92240" y="1600200"/>
            <a:ext cx="4937760" cy="224028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78308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Validation Metric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240280"/>
            <a:ext cx="4480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PR-AUC Score: 81.92%: </a:t>
            </a:r>
            <a:r>
              <a:rPr b="0" sz="1050">
                <a:solidFill>
                  <a:srgbClr val="94A3B8"/>
                </a:solidFill>
              </a:rPr>
              <a:t>Precision-Recall AUC of 81.9% demonstrates outstanding classification separability on an operational dataset.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Precision: 78.44%: </a:t>
            </a:r>
            <a:r>
              <a:rPr b="0" sz="1050">
                <a:solidFill>
                  <a:srgbClr val="94A3B8"/>
                </a:solidFill>
              </a:rPr>
              <a:t>When the model flags a turnaround breach, it is correct in 78.4% of instances, virtually eliminating wasted ground crew deployments.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Recall: 65.94% | F1: 71.65%: </a:t>
            </a:r>
            <a:r>
              <a:rPr b="0" sz="1050">
                <a:solidFill>
                  <a:srgbClr val="94A3B8"/>
                </a:solidFill>
              </a:rPr>
              <a:t>Captures two-thirds of all buffer breaches across the network while sustaining exceptional precision.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069080"/>
            <a:ext cx="4937760" cy="224028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425196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A855F7"/>
                </a:solidFill>
              </a:defRPr>
            </a:pPr>
            <a:r>
              <a:t>Why Precision Protects Airline Operations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4709160"/>
            <a:ext cx="4480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Combating Alert Fatigue: </a:t>
            </a:r>
            <a:r>
              <a:rPr b="0" sz="1050">
                <a:solidFill>
                  <a:srgbClr val="94A3B8"/>
                </a:solidFill>
              </a:rPr>
              <a:t>Operations Control Center (OCC) dispatchers manage hundreds of flights per hour. Low-precision models get ignored due to false alarms.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Cost of False Positives ($0 Wasted Surges): </a:t>
            </a:r>
            <a:r>
              <a:rPr b="0" sz="1050">
                <a:solidFill>
                  <a:srgbClr val="94A3B8"/>
                </a:solidFill>
              </a:rPr>
              <a:t>Surging ground crews or swapping gates incurs operational friction. 78.4% precision guarantees intervention resources are deployed effectively.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Optimal Operating Threshold: </a:t>
            </a:r>
            <a:r>
              <a:rPr b="0" sz="1050">
                <a:solidFill>
                  <a:srgbClr val="94A3B8"/>
                </a:solidFill>
              </a:rPr>
              <a:t>The model operates at a calibrated decision boundary balancing crew allocation economics with delay mitigation potential.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PHASE 06 // EXECUTIVE FINANCIAL IMPACT</a:t>
            </a:r>
          </a:p>
          <a:p>
            <a:pPr>
              <a:spcBef>
                <a:spcPts val="300"/>
              </a:spcBef>
              <a:defRPr sz="2300" b="1">
                <a:solidFill>
                  <a:srgbClr val="F8FAFC"/>
                </a:solidFill>
              </a:defRPr>
            </a:pPr>
            <a:r>
              <a:t>Financial Translation: $10.2M in Quantified Cost Recovery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</a:defRPr>
            </a:pPr>
            <a:r>
              <a:t>Bridging predictive machine learning metrics into executive P&amp;L financial returns based on FAA cost standards.</a:t>
            </a:r>
          </a:p>
        </p:txBody>
      </p:sp>
      <p:pic>
        <p:nvPicPr>
          <p:cNvPr id="5" name="Picture 4" descr="chart4_finan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4864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92240" y="1600200"/>
            <a:ext cx="4937760" cy="224028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78308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Delay Accounting &amp; Exposure Isolation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240280"/>
            <a:ext cx="4480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22,799 Breaches Intercepted: </a:t>
            </a:r>
            <a:r>
              <a:rPr b="0" sz="1050">
                <a:solidFill>
                  <a:srgbClr val="94A3B8"/>
                </a:solidFill>
              </a:rPr>
              <a:t>The model successfully isolated 22,799 high-risk turnaround delays within the test holdout set.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682,723 Delay Minutes Captured: </a:t>
            </a:r>
            <a:r>
              <a:rPr b="0" sz="1050">
                <a:solidFill>
                  <a:srgbClr val="94A3B8"/>
                </a:solidFill>
              </a:rPr>
              <a:t>Represents the total volume of ground and departure delay minutes accurately identified for early intervention.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$51,204,225 Gross Cost Exposure: </a:t>
            </a:r>
            <a:r>
              <a:rPr b="0" sz="1050">
                <a:solidFill>
                  <a:srgbClr val="94A3B8"/>
                </a:solidFill>
              </a:rPr>
              <a:t>Valued at the industry benchmark of $75/min, reflecting direct unmitigated airline operational losses.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069080"/>
            <a:ext cx="4937760" cy="224028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4251960"/>
            <a:ext cx="44805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20% Tactical Mitigation Business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4709160"/>
            <a:ext cx="44805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$10,240,845 Annual Cost Savings: </a:t>
            </a:r>
            <a:r>
              <a:rPr b="0" sz="1050">
                <a:solidFill>
                  <a:srgbClr val="94A3B8"/>
                </a:solidFill>
              </a:rPr>
              <a:t>Assuming airport turn coordinators recover 20% of predicted delay minutes via tactical pre-arrival interventions.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High-Leverage Levers: </a:t>
            </a:r>
            <a:r>
              <a:rPr b="0" sz="1050">
                <a:solidFill>
                  <a:srgbClr val="94A3B8"/>
                </a:solidFill>
              </a:rPr>
              <a:t>Rapid baggage handler surges, pre-connected jet bridges, and priority fueling shave 10-15 minutes off ground turn time.</a:t>
            </a:r>
          </a:p>
          <a:p>
            <a:pPr>
              <a:spcBef>
                <a:spcPts val="400"/>
              </a:spcBef>
              <a:defRPr b="1" sz="1100">
                <a:solidFill>
                  <a:srgbClr val="F8FAFC"/>
                </a:solidFill>
              </a:defRPr>
            </a:pPr>
            <a:r>
              <a:t>•  Compounding Fleet Economics: </a:t>
            </a:r>
            <a:r>
              <a:rPr b="0" sz="1050">
                <a:solidFill>
                  <a:srgbClr val="94A3B8"/>
                </a:solidFill>
              </a:rPr>
              <a:t>Mitigating the root turn delay protects 3-5 subsequent flights, compounding cost avoidance across the full aircraft schedule.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6B6D4"/>
                </a:solidFill>
              </a:defRPr>
            </a:pPr>
            <a:r>
              <a:t>PHASE 07 // OPERATIONS PLAYBOOK &amp; NEXT STEPS</a:t>
            </a:r>
          </a:p>
          <a:p>
            <a:pPr>
              <a:spcBef>
                <a:spcPts val="300"/>
              </a:spcBef>
              <a:defRPr sz="2300" b="1">
                <a:solidFill>
                  <a:srgbClr val="F8FAFC"/>
                </a:solidFill>
              </a:defRPr>
            </a:pPr>
            <a:r>
              <a:t>Tactical Dispatch Protocols &amp; Future Technology Roadmap</a:t>
            </a:r>
          </a:p>
          <a:p>
            <a:pPr>
              <a:spcBef>
                <a:spcPts val="200"/>
              </a:spcBef>
              <a:defRPr sz="1200">
                <a:solidFill>
                  <a:srgbClr val="94A3B8"/>
                </a:solidFill>
              </a:defRPr>
            </a:pPr>
            <a:r>
              <a:t>Bridging predictive intelligence into real-time ground ramp action and establishing the optimization roadmap.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64992" cy="265176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Playbook A: Ramp Surge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9923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b="1" sz="1050">
                <a:solidFill>
                  <a:srgbClr val="F8FAFC"/>
                </a:solidFill>
              </a:defRPr>
            </a:pPr>
            <a:r>
              <a:t>• Trigger: </a:t>
            </a:r>
            <a:r>
              <a:rPr b="0" sz="1000">
                <a:solidFill>
                  <a:srgbClr val="94A3B8"/>
                </a:solidFill>
              </a:rPr>
              <a:t>Predicted Breach Probability &gt; 65%.</a:t>
            </a:r>
          </a:p>
          <a:p>
            <a:pPr>
              <a:spcBef>
                <a:spcPts val="300"/>
              </a:spcBef>
              <a:defRPr b="1" sz="1050">
                <a:solidFill>
                  <a:srgbClr val="F8FAFC"/>
                </a:solidFill>
              </a:defRPr>
            </a:pPr>
            <a:r>
              <a:t>• Protocol: </a:t>
            </a:r>
            <a:r>
              <a:rPr b="0" sz="1000">
                <a:solidFill>
                  <a:srgbClr val="94A3B8"/>
                </a:solidFill>
              </a:rPr>
              <a:t>Station Control automatically dispatches parallel baggage teams and fuels prior to passenger deplaning.</a:t>
            </a:r>
          </a:p>
          <a:p>
            <a:pPr>
              <a:spcBef>
                <a:spcPts val="300"/>
              </a:spcBef>
              <a:defRPr b="1" sz="1050">
                <a:solidFill>
                  <a:srgbClr val="F8FAFC"/>
                </a:solidFill>
              </a:defRPr>
            </a:pPr>
            <a:r>
              <a:t>• Impact: </a:t>
            </a:r>
            <a:r>
              <a:rPr b="0" sz="1000">
                <a:solidFill>
                  <a:srgbClr val="94A3B8"/>
                </a:solidFill>
              </a:rPr>
              <a:t>Saves 12-18 minutes of ground servicing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600200"/>
            <a:ext cx="3364992" cy="265176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1783080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Playbook B: Gate Swapping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194560"/>
            <a:ext cx="299923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b="1" sz="1050">
                <a:solidFill>
                  <a:srgbClr val="F8FAFC"/>
                </a:solidFill>
              </a:defRPr>
            </a:pPr>
            <a:r>
              <a:t>• Trigger: </a:t>
            </a:r>
            <a:r>
              <a:rPr b="0" sz="1000">
                <a:solidFill>
                  <a:srgbClr val="94A3B8"/>
                </a:solidFill>
              </a:rPr>
              <a:t>Inbound delay &gt; 25 mins with short taxi margin.</a:t>
            </a:r>
          </a:p>
          <a:p>
            <a:pPr>
              <a:spcBef>
                <a:spcPts val="300"/>
              </a:spcBef>
              <a:defRPr b="1" sz="1050">
                <a:solidFill>
                  <a:srgbClr val="F8FAFC"/>
                </a:solidFill>
              </a:defRPr>
            </a:pPr>
            <a:r>
              <a:t>• Protocol: </a:t>
            </a:r>
            <a:r>
              <a:rPr b="0" sz="1000">
                <a:solidFill>
                  <a:srgbClr val="94A3B8"/>
                </a:solidFill>
              </a:rPr>
              <a:t>Reassign aircraft from remote concourse to closest active runway gate with dual jet bridges.</a:t>
            </a:r>
          </a:p>
          <a:p>
            <a:pPr>
              <a:spcBef>
                <a:spcPts val="300"/>
              </a:spcBef>
              <a:defRPr b="1" sz="1050">
                <a:solidFill>
                  <a:srgbClr val="F8FAFC"/>
                </a:solidFill>
              </a:defRPr>
            </a:pPr>
            <a:r>
              <a:t>• Impact: </a:t>
            </a:r>
            <a:r>
              <a:rPr b="0" sz="1000">
                <a:solidFill>
                  <a:srgbClr val="94A3B8"/>
                </a:solidFill>
              </a:rPr>
              <a:t>Eliminates 10-15 minutes of taxi-in and deplaning bottlenecks.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1600200"/>
            <a:ext cx="3364992" cy="265176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1783080"/>
            <a:ext cx="290779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Playbook C: Fast Boarding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6" y="2194560"/>
            <a:ext cx="299923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b="1" sz="1050">
                <a:solidFill>
                  <a:srgbClr val="F8FAFC"/>
                </a:solidFill>
              </a:defRPr>
            </a:pPr>
            <a:r>
              <a:t>• Trigger: </a:t>
            </a:r>
            <a:r>
              <a:rPr b="0" sz="1000">
                <a:solidFill>
                  <a:srgbClr val="94A3B8"/>
                </a:solidFill>
              </a:rPr>
              <a:t>High-capacity narrow-body turns at hub stations.</a:t>
            </a:r>
          </a:p>
          <a:p>
            <a:pPr>
              <a:spcBef>
                <a:spcPts val="300"/>
              </a:spcBef>
              <a:defRPr b="1" sz="1050">
                <a:solidFill>
                  <a:srgbClr val="F8FAFC"/>
                </a:solidFill>
              </a:defRPr>
            </a:pPr>
            <a:r>
              <a:t>• Protocol: </a:t>
            </a:r>
            <a:r>
              <a:rPr b="0" sz="1000">
                <a:solidFill>
                  <a:srgbClr val="94A3B8"/>
                </a:solidFill>
              </a:rPr>
              <a:t>Pre-clear gate check bags in the boarding lounge 20 minutes prior to cabin door opening.</a:t>
            </a:r>
          </a:p>
          <a:p>
            <a:pPr>
              <a:spcBef>
                <a:spcPts val="300"/>
              </a:spcBef>
              <a:defRPr b="1" sz="1050">
                <a:solidFill>
                  <a:srgbClr val="F8FAFC"/>
                </a:solidFill>
              </a:defRPr>
            </a:pPr>
            <a:r>
              <a:t>• Impact: </a:t>
            </a:r>
            <a:r>
              <a:rPr b="0" sz="1000">
                <a:solidFill>
                  <a:srgbClr val="94A3B8"/>
                </a:solidFill>
              </a:rPr>
              <a:t>Compresses passenger boarding duration by 8-10 minutes.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34840"/>
            <a:ext cx="10728655" cy="1920240"/>
          </a:xfrm>
          <a:prstGeom prst="roundRect">
            <a:avLst/>
          </a:prstGeom>
          <a:solidFill>
            <a:srgbClr val="182132"/>
          </a:solidFill>
          <a:ln w="12700">
            <a:solidFill>
              <a:srgbClr val="2D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1772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A855F7"/>
                </a:solidFill>
              </a:defRPr>
            </a:pPr>
            <a:r>
              <a:t>Future Optimization 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029200"/>
            <a:ext cx="1027145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b="1" sz="1100">
                <a:solidFill>
                  <a:srgbClr val="F8FAFC"/>
                </a:solidFill>
              </a:defRPr>
            </a:pPr>
            <a:r>
              <a:t>•  Phase 1: Foundation (Completed): </a:t>
            </a:r>
            <a:r>
              <a:rPr b="0" sz="1050">
                <a:solidFill>
                  <a:srgbClr val="94A3B8"/>
                </a:solidFill>
              </a:rPr>
              <a:t>Historical ingestion (441k flights), SQLite B-Tree LAG() sequencing, class-balanced Random Forest (81.9% PR-AUC).</a:t>
            </a:r>
          </a:p>
          <a:p>
            <a:pPr>
              <a:spcBef>
                <a:spcPts val="300"/>
              </a:spcBef>
              <a:defRPr b="1" sz="1100">
                <a:solidFill>
                  <a:srgbClr val="F8FAFC"/>
                </a:solidFill>
              </a:defRPr>
            </a:pPr>
            <a:r>
              <a:t>•  Phase 2: Streaming Telemetry Integration: </a:t>
            </a:r>
            <a:r>
              <a:rPr b="0" sz="1050">
                <a:solidFill>
                  <a:srgbClr val="94A3B8"/>
                </a:solidFill>
              </a:rPr>
              <a:t>Ingest live ACARS / ADS-B GPS position feeds to recalculate turnaround buffer risk dynamically every 60 seconds airborne.</a:t>
            </a:r>
          </a:p>
          <a:p>
            <a:pPr>
              <a:spcBef>
                <a:spcPts val="300"/>
              </a:spcBef>
              <a:defRPr b="1" sz="1100">
                <a:solidFill>
                  <a:srgbClr val="F8FAFC"/>
                </a:solidFill>
              </a:defRPr>
            </a:pPr>
            <a:r>
              <a:t>•  Phase 3: Mathematical Optimization (MILP): </a:t>
            </a:r>
            <a:r>
              <a:rPr b="0" sz="1050">
                <a:solidFill>
                  <a:srgbClr val="94A3B8"/>
                </a:solidFill>
              </a:rPr>
              <a:t>Deploy a Mixed-Integer Linear Programming solver to automatically optimize gate allocations and ground crew rosters across entire hub complexes.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